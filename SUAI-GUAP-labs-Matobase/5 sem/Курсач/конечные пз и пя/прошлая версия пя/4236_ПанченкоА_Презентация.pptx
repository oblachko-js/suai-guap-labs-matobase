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71" r:id="rId1"/>
    <p:sldMasterId id="2147483657" r:id="rId2"/>
    <p:sldMasterId id="2147483833" r:id="rId3"/>
  </p:sldMasterIdLst>
  <p:notesMasterIdLst>
    <p:notesMasterId r:id="rId18"/>
  </p:notesMasterIdLst>
  <p:handoutMasterIdLst>
    <p:handoutMasterId r:id="rId19"/>
  </p:handoutMasterIdLst>
  <p:sldIdLst>
    <p:sldId id="1171" r:id="rId4"/>
    <p:sldId id="1126" r:id="rId5"/>
    <p:sldId id="1173" r:id="rId6"/>
    <p:sldId id="1097" r:id="rId7"/>
    <p:sldId id="1172" r:id="rId8"/>
    <p:sldId id="1102" r:id="rId9"/>
    <p:sldId id="1185" r:id="rId10"/>
    <p:sldId id="1186" r:id="rId11"/>
    <p:sldId id="1187" r:id="rId12"/>
    <p:sldId id="1188" r:id="rId13"/>
    <p:sldId id="1189" r:id="rId14"/>
    <p:sldId id="1191" r:id="rId15"/>
    <p:sldId id="1192" r:id="rId16"/>
    <p:sldId id="1190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резентация по курсовому проекту" id="{E6ECDA77-1B8E-0E4F-8DDA-529EB99512FD}">
          <p14:sldIdLst>
            <p14:sldId id="1171"/>
            <p14:sldId id="1126"/>
            <p14:sldId id="1173"/>
            <p14:sldId id="1097"/>
            <p14:sldId id="1172"/>
            <p14:sldId id="1102"/>
            <p14:sldId id="1185"/>
            <p14:sldId id="1186"/>
            <p14:sldId id="1187"/>
            <p14:sldId id="1188"/>
            <p14:sldId id="1189"/>
            <p14:sldId id="1191"/>
            <p14:sldId id="1192"/>
            <p14:sldId id="119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лексей Малышев" initials="АМ" lastIdx="8" clrIdx="0">
    <p:extLst>
      <p:ext uri="{19B8F6BF-5375-455C-9EA6-DF929625EA0E}">
        <p15:presenceInfo xmlns:p15="http://schemas.microsoft.com/office/powerpoint/2012/main" userId="8ae9c15f625b32bb" providerId="Windows Live"/>
      </p:ext>
    </p:extLst>
  </p:cmAuthor>
  <p:cmAuthor id="2" name="OCTS" initials="O" lastIdx="1" clrIdx="1">
    <p:extLst>
      <p:ext uri="{19B8F6BF-5375-455C-9EA6-DF929625EA0E}">
        <p15:presenceInfo xmlns:p15="http://schemas.microsoft.com/office/powerpoint/2012/main" userId="OCTS" providerId="None"/>
      </p:ext>
    </p:extLst>
  </p:cmAuthor>
  <p:cmAuthor id="3" name="Kostylev Andrey" initials="KA" lastIdx="1" clrIdx="2">
    <p:extLst>
      <p:ext uri="{19B8F6BF-5375-455C-9EA6-DF929625EA0E}">
        <p15:presenceInfo xmlns:p15="http://schemas.microsoft.com/office/powerpoint/2012/main" userId="146efb04217a1102" providerId="Windows Live"/>
      </p:ext>
    </p:extLst>
  </p:cmAuthor>
  <p:cmAuthor id="4" name="Elizaveta Kostyleva" initials="EK" lastIdx="1" clrIdx="3">
    <p:extLst>
      <p:ext uri="{19B8F6BF-5375-455C-9EA6-DF929625EA0E}">
        <p15:presenceInfo xmlns:p15="http://schemas.microsoft.com/office/powerpoint/2012/main" userId="S::ekostyleva@lifevantage.com::e5a115f0-bdb1-48b8-969c-0a472e870de3" providerId="AD"/>
      </p:ext>
    </p:extLst>
  </p:cmAuthor>
  <p:cmAuthor id="5" name="ОЦТС" initials="О" lastIdx="2" clrIdx="4">
    <p:extLst>
      <p:ext uri="{19B8F6BF-5375-455C-9EA6-DF929625EA0E}">
        <p15:presenceInfo xmlns:p15="http://schemas.microsoft.com/office/powerpoint/2012/main" userId="ОЦТС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AA"/>
    <a:srgbClr val="9D9D9D"/>
    <a:srgbClr val="FEFEFE"/>
    <a:srgbClr val="BFBFBF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70" autoAdjust="0"/>
    <p:restoredTop sz="90520" autoAdjust="0"/>
  </p:normalViewPr>
  <p:slideViewPr>
    <p:cSldViewPr snapToGrid="0" snapToObjects="1">
      <p:cViewPr>
        <p:scale>
          <a:sx n="100" d="100"/>
          <a:sy n="100" d="100"/>
        </p:scale>
        <p:origin x="1088" y="8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400" d="100"/>
        <a:sy n="400" d="100"/>
      </p:scale>
      <p:origin x="0" y="0"/>
    </p:cViewPr>
  </p:notesTextViewPr>
  <p:sorterViewPr>
    <p:cViewPr>
      <p:scale>
        <a:sx n="66" d="100"/>
        <a:sy n="66" d="100"/>
      </p:scale>
      <p:origin x="0" y="-7146"/>
    </p:cViewPr>
  </p:sorterViewPr>
  <p:notesViewPr>
    <p:cSldViewPr snapToGrid="0" snapToObjects="1">
      <p:cViewPr varScale="1">
        <p:scale>
          <a:sx n="85" d="100"/>
          <a:sy n="85" d="100"/>
        </p:scale>
        <p:origin x="380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78F288-5E3C-4F81-AD43-7789565D29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2D620-2592-455C-9AF4-8E2D0C2F79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FCE6C-E7E6-4C35-A8B5-8F9784AA6873}" type="datetimeFigureOut">
              <a:rPr lang="en-US" smtClean="0"/>
              <a:t>11/7/24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628E3-CFC5-471A-B6A2-9F949B2E81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586937-338C-4D39-8822-B1F000CF6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E77762-F59A-4FB1-90F9-50BE76F03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558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D46D5B-6567-794D-8CBA-5CCA973D6774}" type="datetimeFigureOut">
              <a:t>07.11.2024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DE2F8-02D4-C448-B364-7246A6689E7F}" type="slidenum"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934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4172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4358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400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9948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3752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FC839-ABD9-F9E6-6C81-1FC7ECCC1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B40EDD2-80A5-8A97-8A0F-BAE6FA2B62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9AA8C77-F928-0847-EF3C-E519ECAF5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87FDFA-F9A1-C6D8-C740-368D37096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EDE2F8-02D4-C448-B364-7246A6689E7F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2344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а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6EB76-0898-4F71-9685-0F9BE4E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CD38B1-ACC6-416C-AF72-6F91347F9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568243"/>
            <a:ext cx="6330950" cy="8411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ru-RU" dirty="0"/>
              <a:t>Имя Фамилия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0C140D7-ACA5-419A-846F-D1888293EF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52598" y="5993952"/>
            <a:ext cx="3488540" cy="387798"/>
          </a:xfrm>
        </p:spPr>
        <p:txBody>
          <a:bodyPr/>
          <a:lstStyle>
            <a:lvl2pPr>
              <a:defRPr/>
            </a:lvl2pPr>
            <a:lvl3pPr marL="914400" indent="0">
              <a:buNone/>
              <a:defRPr/>
            </a:lvl3pPr>
          </a:lstStyle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89141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48982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55870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 userDrawn="1">
          <p15:clr>
            <a:srgbClr val="9FCC3B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C75DE5C1-456E-4D90-87F0-D35E9FD23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6364" y="1341437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6248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е колонки в одном бло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090275" cy="5040312"/>
          </a:xfrm>
        </p:spPr>
        <p:txBody>
          <a:bodyPr numCol="2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9747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1735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6875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2AFB8C0-5C8E-4D3D-ADF9-00059CE618CF}"/>
              </a:ext>
            </a:extLst>
          </p:cNvPr>
          <p:cNvSpPr txBox="1"/>
          <p:nvPr userDrawn="1"/>
        </p:nvSpPr>
        <p:spPr>
          <a:xfrm>
            <a:off x="9541404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771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1843" y="5605171"/>
            <a:ext cx="1014262" cy="314912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88270A5-5B56-4CCE-84C6-4D75D2450723}"/>
              </a:ext>
            </a:extLst>
          </p:cNvPr>
          <p:cNvCxnSpPr>
            <a:cxnSpLocks/>
          </p:cNvCxnSpPr>
          <p:nvPr userDrawn="1"/>
        </p:nvCxnSpPr>
        <p:spPr>
          <a:xfrm>
            <a:off x="550863" y="6010277"/>
            <a:ext cx="10205243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5385"/>
          <a:stretch/>
        </p:blipFill>
        <p:spPr>
          <a:xfrm>
            <a:off x="10776480" y="5500691"/>
            <a:ext cx="864658" cy="9138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676746" y="6179006"/>
            <a:ext cx="209973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tx2"/>
                </a:solidFill>
              </a:rPr>
              <a:t>https://guap.ru</a:t>
            </a:r>
            <a:endParaRPr lang="ru-RU" sz="1400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6AFA2-D81A-4798-AEC0-3F4A7A8C22AC}"/>
              </a:ext>
            </a:extLst>
          </p:cNvPr>
          <p:cNvSpPr txBox="1"/>
          <p:nvPr userDrawn="1"/>
        </p:nvSpPr>
        <p:spPr>
          <a:xfrm>
            <a:off x="571238" y="6179006"/>
            <a:ext cx="320506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0" dirty="0">
                <a:solidFill>
                  <a:schemeClr val="bg1">
                    <a:lumMod val="50000"/>
                  </a:schemeClr>
                </a:solidFill>
              </a:rPr>
              <a:t>© </a:t>
            </a:r>
            <a:r>
              <a:rPr lang="ru-RU" sz="1100" b="0" dirty="0">
                <a:solidFill>
                  <a:schemeClr val="bg1">
                    <a:lumMod val="50000"/>
                  </a:schemeClr>
                </a:solidFill>
              </a:rPr>
              <a:t>ГУАП, 2023</a:t>
            </a:r>
            <a:endParaRPr lang="ru-RU" sz="1400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039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3 - для выступле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1509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AF823-6E65-4BE2-B22A-CEAA3977E7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400157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330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26B8BC-9AE2-41D8-8A90-8D1C0A2A55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09951-9659-4924-B8D1-D9994BE1E4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6155"/>
          <a:stretch/>
        </p:blipFill>
        <p:spPr>
          <a:xfrm>
            <a:off x="550865" y="304376"/>
            <a:ext cx="2827336" cy="10953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9E3CC-EBAD-4C68-8215-E3D1E338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509678"/>
            <a:ext cx="8051638" cy="1325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0187D-590C-4FB1-A787-08B69F58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4568243"/>
            <a:ext cx="6234948" cy="1004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162485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40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4A2A7-9511-4B2D-A046-C71363808B05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412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1" r:id="rId2"/>
    <p:sldLayoutId id="2147483759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 userDrawn="1">
          <p15:clr>
            <a:srgbClr val="F26B43"/>
          </p15:clr>
        </p15:guide>
        <p15:guide id="6" pos="406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4C9C7-3F3B-4FAE-B19C-B28F0A67B7F7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624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6" r:id="rId2"/>
    <p:sldLayoutId id="2147483847" r:id="rId3"/>
    <p:sldLayoutId id="2147483849" r:id="rId4"/>
    <p:sldLayoutId id="2147483850" r:id="rId5"/>
    <p:sldLayoutId id="2147483843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4067" userDrawn="1">
          <p15:clr>
            <a:srgbClr val="F26B43"/>
          </p15:clr>
        </p15:guide>
        <p15:guide id="6" pos="361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5BC97-99E1-4827-A5AA-5E9EBED1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Приложение для управления парковками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EA8D34-BBBA-48A9-9B83-130C3E8DC9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2" y="4875633"/>
            <a:ext cx="6330950" cy="1118319"/>
          </a:xfrm>
        </p:spPr>
        <p:txBody>
          <a:bodyPr>
            <a:normAutofit/>
          </a:bodyPr>
          <a:lstStyle/>
          <a:p>
            <a:r>
              <a:rPr lang="ru-RU" sz="2800" dirty="0"/>
              <a:t>Панченко Андрей г</a:t>
            </a:r>
            <a:r>
              <a:rPr lang="en-US" sz="2800" dirty="0"/>
              <a:t>.</a:t>
            </a:r>
            <a:r>
              <a:rPr lang="ru-RU" sz="2800" dirty="0"/>
              <a:t>4236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26AC53-244B-4289-B3B5-D31C1BFD52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ru-RU" dirty="0"/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2705815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52577"/>
            <a:ext cx="9608330" cy="443198"/>
          </a:xfrm>
        </p:spPr>
        <p:txBody>
          <a:bodyPr/>
          <a:lstStyle/>
          <a:p>
            <a:r>
              <a:rPr lang="ru-RU" sz="3200" dirty="0"/>
              <a:t>Цель проекта</a:t>
            </a:r>
            <a:r>
              <a:rPr lang="en-US" sz="3200" dirty="0"/>
              <a:t>:</a:t>
            </a:r>
            <a:r>
              <a:rPr lang="ru-RU" sz="3200" dirty="0"/>
              <a:t> создать удобное приложение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marL="0" lvl="5" indent="0">
              <a:buNone/>
            </a:pPr>
            <a:r>
              <a:rPr lang="ru-RU" sz="2800" dirty="0"/>
              <a:t>Основные функции (управление)</a:t>
            </a:r>
            <a:r>
              <a:rPr lang="en-US" sz="2800" dirty="0"/>
              <a:t>:</a:t>
            </a:r>
          </a:p>
          <a:p>
            <a:pPr lvl="5"/>
            <a:r>
              <a:rPr lang="ru-RU" sz="2800" dirty="0"/>
              <a:t>Парковками</a:t>
            </a:r>
          </a:p>
          <a:p>
            <a:pPr lvl="5"/>
            <a:r>
              <a:rPr lang="ru-RU" sz="2800" dirty="0"/>
              <a:t>Посетителями</a:t>
            </a:r>
          </a:p>
          <a:p>
            <a:pPr lvl="5"/>
            <a:r>
              <a:rPr lang="ru-RU" sz="2800" dirty="0"/>
              <a:t>Билетами</a:t>
            </a:r>
          </a:p>
          <a:p>
            <a:pPr lvl="5"/>
            <a:r>
              <a:rPr lang="ru-RU" sz="2800" dirty="0"/>
              <a:t>Транспортными средствами</a:t>
            </a:r>
          </a:p>
          <a:p>
            <a:pPr lvl="5"/>
            <a:r>
              <a:rPr lang="ru-RU" sz="2800" dirty="0"/>
              <a:t>Персоналами</a:t>
            </a:r>
            <a:endParaRPr lang="ru-RU" sz="3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B314012-0120-0FAC-9B9A-1E613C78D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361" y="1341438"/>
            <a:ext cx="5184776" cy="3508691"/>
          </a:xfrm>
          <a:prstGeom prst="round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5473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52577"/>
            <a:ext cx="9608330" cy="443198"/>
          </a:xfrm>
        </p:spPr>
        <p:txBody>
          <a:bodyPr/>
          <a:lstStyle/>
          <a:p>
            <a:r>
              <a:rPr lang="ru-RU" sz="3200" dirty="0"/>
              <a:t>Архитектура приложения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78484" cy="5040312"/>
          </a:xfrm>
        </p:spPr>
        <p:txBody>
          <a:bodyPr>
            <a:normAutofit/>
          </a:bodyPr>
          <a:lstStyle/>
          <a:p>
            <a:pPr marL="0" lvl="5" indent="0">
              <a:buNone/>
            </a:pPr>
            <a:r>
              <a:rPr lang="ru-RU" sz="2800" dirty="0"/>
              <a:t>Основные классы</a:t>
            </a:r>
            <a:r>
              <a:rPr lang="en-US" sz="2800" dirty="0"/>
              <a:t>:</a:t>
            </a:r>
            <a:endParaRPr lang="ru-RU" sz="2800" dirty="0"/>
          </a:p>
          <a:p>
            <a:pPr lvl="5"/>
            <a:r>
              <a:rPr lang="en-US" sz="2800" dirty="0" err="1"/>
              <a:t>MainWindow</a:t>
            </a:r>
            <a:endParaRPr lang="en-US" sz="2800" dirty="0"/>
          </a:p>
          <a:p>
            <a:pPr lvl="5"/>
            <a:r>
              <a:rPr lang="en-US" sz="2800" dirty="0" err="1"/>
              <a:t>ParkingFactory</a:t>
            </a:r>
            <a:endParaRPr lang="en-US" sz="2800" dirty="0"/>
          </a:p>
          <a:p>
            <a:pPr lvl="5"/>
            <a:r>
              <a:rPr lang="en-US" sz="2800" dirty="0"/>
              <a:t>Visitors</a:t>
            </a:r>
          </a:p>
          <a:p>
            <a:pPr lvl="5"/>
            <a:r>
              <a:rPr lang="en-US" sz="2800" dirty="0" err="1"/>
              <a:t>TicketManager</a:t>
            </a:r>
            <a:endParaRPr lang="en-US" sz="2800" dirty="0"/>
          </a:p>
          <a:p>
            <a:pPr lvl="5"/>
            <a:r>
              <a:rPr lang="en-US" sz="2800" dirty="0"/>
              <a:t>Vehicle</a:t>
            </a:r>
          </a:p>
          <a:p>
            <a:pPr lvl="5"/>
            <a:r>
              <a:rPr lang="en-US" sz="2800" dirty="0"/>
              <a:t>Personnel</a:t>
            </a:r>
            <a:endParaRPr lang="ru-RU"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1B7FCC-4FE4-9EF5-DA73-6EB0A588A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2839" y="1168834"/>
            <a:ext cx="8496173" cy="379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585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52577"/>
            <a:ext cx="9608330" cy="443198"/>
          </a:xfrm>
        </p:spPr>
        <p:txBody>
          <a:bodyPr/>
          <a:lstStyle/>
          <a:p>
            <a:r>
              <a:rPr lang="en-US" sz="3200" dirty="0" err="1"/>
              <a:t>MainWindow</a:t>
            </a:r>
            <a:endParaRPr lang="ru-RU" sz="32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marL="0" lvl="5" indent="0">
              <a:buNone/>
            </a:pPr>
            <a:r>
              <a:rPr lang="ru-RU" sz="2800" dirty="0"/>
              <a:t>Функции класса </a:t>
            </a:r>
            <a:r>
              <a:rPr lang="en-US" sz="2800" dirty="0" err="1"/>
              <a:t>MainWindow</a:t>
            </a:r>
            <a:r>
              <a:rPr lang="en-US" sz="2800" dirty="0"/>
              <a:t>:</a:t>
            </a:r>
          </a:p>
          <a:p>
            <a:pPr lvl="5"/>
            <a:r>
              <a:rPr lang="ru-RU" sz="2800" dirty="0"/>
              <a:t>Управляет пользовательским интерфейсом</a:t>
            </a:r>
          </a:p>
          <a:p>
            <a:pPr lvl="5"/>
            <a:r>
              <a:rPr lang="ru-RU" sz="2800" dirty="0"/>
              <a:t>Связывает элементы интерфейса функциями</a:t>
            </a:r>
          </a:p>
          <a:p>
            <a:pPr lvl="5"/>
            <a:r>
              <a:rPr lang="ru-RU" sz="2800" dirty="0"/>
              <a:t>Обновляет таблицы после изменений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3EAB0F-EB2E-3149-07FB-4FD4753E7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361" y="1341438"/>
            <a:ext cx="5184776" cy="3508691"/>
          </a:xfrm>
          <a:prstGeom prst="round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90833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52577"/>
            <a:ext cx="9608330" cy="443198"/>
          </a:xfrm>
        </p:spPr>
        <p:txBody>
          <a:bodyPr/>
          <a:lstStyle/>
          <a:p>
            <a:r>
              <a:rPr lang="en-US" sz="3200" dirty="0" err="1"/>
              <a:t>ParkingFactory</a:t>
            </a:r>
            <a:endParaRPr lang="ru-RU" sz="32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pPr lvl="5"/>
            <a:r>
              <a:rPr lang="ru-RU" sz="2800" dirty="0"/>
              <a:t>Управляет данными о парковках</a:t>
            </a:r>
          </a:p>
          <a:p>
            <a:pPr lvl="5"/>
            <a:r>
              <a:rPr lang="ru-RU" sz="2800" dirty="0"/>
              <a:t>Методы</a:t>
            </a:r>
            <a:r>
              <a:rPr lang="en-US" sz="2800" dirty="0"/>
              <a:t>:</a:t>
            </a:r>
            <a:endParaRPr lang="ru-RU" sz="2800" dirty="0"/>
          </a:p>
          <a:p>
            <a:pPr lvl="5">
              <a:buFont typeface="Wingdings" pitchFamily="2" charset="2"/>
              <a:buChar char="ü"/>
            </a:pPr>
            <a:r>
              <a:rPr lang="en-US" sz="2800" dirty="0" err="1"/>
              <a:t>addParking</a:t>
            </a:r>
            <a:r>
              <a:rPr lang="en-US" sz="2800" dirty="0"/>
              <a:t>():</a:t>
            </a:r>
            <a:r>
              <a:rPr lang="ru-RU" sz="2800" dirty="0"/>
              <a:t> Добавляет новую парковку</a:t>
            </a:r>
          </a:p>
          <a:p>
            <a:pPr lvl="5">
              <a:buFont typeface="Wingdings" pitchFamily="2" charset="2"/>
              <a:buChar char="ü"/>
            </a:pPr>
            <a:r>
              <a:rPr lang="en-US" sz="2800" dirty="0" err="1"/>
              <a:t>loadParkingTotable</a:t>
            </a:r>
            <a:r>
              <a:rPr lang="en-US" sz="2800" dirty="0"/>
              <a:t>():</a:t>
            </a:r>
            <a:r>
              <a:rPr lang="ru-RU" sz="2800" dirty="0"/>
              <a:t> Загружает данные о парковках в таблицу</a:t>
            </a:r>
          </a:p>
          <a:p>
            <a:pPr marL="0" lvl="5" indent="0">
              <a:buNone/>
            </a:pPr>
            <a:endParaRPr lang="ru-RU" sz="28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8FA8F37-0648-4855-DB99-C3F4ACDDF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7086" y="1341438"/>
            <a:ext cx="6557254" cy="4393162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645219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F629FCE6-17AE-4664-8F63-4E9A710F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52577"/>
            <a:ext cx="9608330" cy="443198"/>
          </a:xfrm>
        </p:spPr>
        <p:txBody>
          <a:bodyPr/>
          <a:lstStyle/>
          <a:p>
            <a:r>
              <a:rPr lang="en-US" sz="3200" dirty="0"/>
              <a:t>Visitors</a:t>
            </a:r>
            <a:endParaRPr lang="ru-RU" sz="32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49452D1-89AA-4C5A-88F0-499C88E144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024128"/>
            <a:ext cx="5184774" cy="5833872"/>
          </a:xfrm>
        </p:spPr>
        <p:txBody>
          <a:bodyPr numCol="1">
            <a:noAutofit/>
          </a:bodyPr>
          <a:lstStyle/>
          <a:p>
            <a:pPr lvl="5">
              <a:lnSpc>
                <a:spcPct val="130000"/>
              </a:lnSpc>
            </a:pPr>
            <a:r>
              <a:rPr lang="ru-RU" sz="2800" dirty="0"/>
              <a:t>Обрабатывает данные о посетителях</a:t>
            </a:r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0979D836-15AD-9978-5308-C8A9E8CFC009}"/>
              </a:ext>
            </a:extLst>
          </p:cNvPr>
          <p:cNvSpPr txBox="1">
            <a:spLocks/>
          </p:cNvSpPr>
          <p:nvPr/>
        </p:nvSpPr>
        <p:spPr>
          <a:xfrm>
            <a:off x="5355028" y="1024128"/>
            <a:ext cx="5184774" cy="5833872"/>
          </a:xfrm>
          <a:prstGeom prst="rect">
            <a:avLst/>
          </a:prstGeom>
        </p:spPr>
        <p:txBody>
          <a:bodyPr vert="horz" lIns="0" tIns="0" rIns="0" bIns="0" numCol="1" spcCol="720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>
              <a:lnSpc>
                <a:spcPct val="130000"/>
              </a:lnSpc>
            </a:pPr>
            <a:r>
              <a:rPr lang="ru-RU" sz="2800" dirty="0"/>
              <a:t>Методы</a:t>
            </a:r>
            <a:r>
              <a:rPr lang="en-US" sz="2800" dirty="0"/>
              <a:t>:</a:t>
            </a:r>
          </a:p>
          <a:p>
            <a:pPr lvl="5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sz="2800" dirty="0" err="1"/>
              <a:t>addVisitor</a:t>
            </a:r>
            <a:r>
              <a:rPr lang="en-US" sz="2800" dirty="0"/>
              <a:t>():</a:t>
            </a:r>
            <a:r>
              <a:rPr lang="ru-RU" sz="2800" dirty="0"/>
              <a:t> Добавляет нового посетителя</a:t>
            </a:r>
          </a:p>
          <a:p>
            <a:pPr lvl="5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sz="2800" dirty="0" err="1"/>
              <a:t>saveVisitorsToFile</a:t>
            </a:r>
            <a:r>
              <a:rPr lang="en-US" sz="2800" dirty="0"/>
              <a:t>():</a:t>
            </a:r>
            <a:r>
              <a:rPr lang="ru-RU" sz="2800" dirty="0"/>
              <a:t> Сохраняет посетителя в файл</a:t>
            </a:r>
          </a:p>
          <a:p>
            <a:pPr lvl="5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sz="2800" dirty="0" err="1"/>
              <a:t>loadVisitorsFromFile</a:t>
            </a:r>
            <a:r>
              <a:rPr lang="en-US" sz="2800" dirty="0"/>
              <a:t>():</a:t>
            </a:r>
            <a:r>
              <a:rPr lang="ru-RU" sz="2800" dirty="0"/>
              <a:t> Загружает посетителя из файла в таблицу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E86427-0118-4D12-78E1-77A2E7FFC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26" y="3196797"/>
            <a:ext cx="4947602" cy="3308626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77253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C950A427-2396-4452-A267-FC25A12F1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52577"/>
            <a:ext cx="9608330" cy="443198"/>
          </a:xfrm>
        </p:spPr>
        <p:txBody>
          <a:bodyPr/>
          <a:lstStyle/>
          <a:p>
            <a:r>
              <a:rPr lang="en-US" sz="3200" dirty="0" err="1"/>
              <a:t>TicketManager</a:t>
            </a:r>
            <a:endParaRPr lang="ru-RU" sz="3200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90C7D51-AC66-40CC-A0F6-A9900F310E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84774" cy="5040312"/>
          </a:xfrm>
        </p:spPr>
        <p:txBody>
          <a:bodyPr/>
          <a:lstStyle/>
          <a:p>
            <a:pPr marL="285750" marR="0" lvl="5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E70F4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2800" dirty="0" err="1">
                <a:solidFill>
                  <a:srgbClr val="242834"/>
                </a:solidFill>
                <a:latin typeface="Arial" panose="020B0604020202020204"/>
              </a:rPr>
              <a:t>addTicket</a:t>
            </a:r>
            <a:r>
              <a:rPr lang="en-US" sz="2800" dirty="0">
                <a:solidFill>
                  <a:srgbClr val="242834"/>
                </a:solidFill>
                <a:latin typeface="Arial" panose="020B0604020202020204"/>
              </a:rPr>
              <a:t>(): </a:t>
            </a:r>
            <a:r>
              <a:rPr lang="ru-RU" sz="2800" dirty="0">
                <a:solidFill>
                  <a:srgbClr val="242834"/>
                </a:solidFill>
                <a:latin typeface="Arial" panose="020B0604020202020204"/>
              </a:rPr>
              <a:t>Создает новый билет после проверки данных</a:t>
            </a:r>
          </a:p>
          <a:p>
            <a:pPr marL="285750" marR="0" lvl="5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E70F4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4283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updateTicketTable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4283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():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242834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Обновляет отображение данных о билет</a:t>
            </a:r>
            <a:r>
              <a:rPr lang="ru-RU" sz="2800" dirty="0">
                <a:solidFill>
                  <a:srgbClr val="242834"/>
                </a:solidFill>
                <a:latin typeface="Arial" panose="020B0604020202020204"/>
              </a:rPr>
              <a:t>ах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srgbClr val="242834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lvl="3"/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350BA11-898E-693A-9E69-624C7362E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638" y="1341438"/>
            <a:ext cx="6290592" cy="417512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757779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D201C-9EA8-ABB1-A3E0-D5D464313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E25046D3-E0B4-D1D0-5DAC-04E73327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52577"/>
            <a:ext cx="9608330" cy="443198"/>
          </a:xfrm>
        </p:spPr>
        <p:txBody>
          <a:bodyPr/>
          <a:lstStyle/>
          <a:p>
            <a:r>
              <a:rPr lang="en-US" sz="3200" dirty="0"/>
              <a:t>Vehicle </a:t>
            </a:r>
            <a:r>
              <a:rPr lang="ru-RU" sz="3200" dirty="0"/>
              <a:t>и</a:t>
            </a:r>
            <a:r>
              <a:rPr lang="en-US" sz="3200" dirty="0"/>
              <a:t> Personnel</a:t>
            </a:r>
            <a:endParaRPr lang="ru-RU" sz="32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F0D3F50-4806-F417-68B3-6E923A5B9C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024128"/>
            <a:ext cx="5184774" cy="2404872"/>
          </a:xfrm>
        </p:spPr>
        <p:txBody>
          <a:bodyPr numCol="1">
            <a:noAutofit/>
          </a:bodyPr>
          <a:lstStyle/>
          <a:p>
            <a:pPr lvl="5">
              <a:lnSpc>
                <a:spcPct val="130000"/>
              </a:lnSpc>
            </a:pPr>
            <a:r>
              <a:rPr lang="en-US" sz="2800" dirty="0"/>
              <a:t>Vehicle: </a:t>
            </a:r>
            <a:r>
              <a:rPr lang="ru-RU" sz="2800" dirty="0"/>
              <a:t>Транспортное средство с атрибутами </a:t>
            </a:r>
            <a:r>
              <a:rPr lang="en-US" sz="2800" dirty="0"/>
              <a:t>ID,</a:t>
            </a:r>
            <a:r>
              <a:rPr lang="ru-RU" sz="2800" dirty="0"/>
              <a:t> марка и модель</a:t>
            </a:r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A98DD980-0D85-0C92-3649-5001A8DD06FD}"/>
              </a:ext>
            </a:extLst>
          </p:cNvPr>
          <p:cNvSpPr txBox="1">
            <a:spLocks/>
          </p:cNvSpPr>
          <p:nvPr/>
        </p:nvSpPr>
        <p:spPr>
          <a:xfrm>
            <a:off x="5355028" y="1024128"/>
            <a:ext cx="5184774" cy="2404872"/>
          </a:xfrm>
          <a:prstGeom prst="rect">
            <a:avLst/>
          </a:prstGeom>
        </p:spPr>
        <p:txBody>
          <a:bodyPr vert="horz" lIns="0" tIns="0" rIns="0" bIns="0" numCol="1" spcCol="720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5">
              <a:lnSpc>
                <a:spcPct val="130000"/>
              </a:lnSpc>
            </a:pPr>
            <a:r>
              <a:rPr lang="en-US" sz="2800" dirty="0"/>
              <a:t>Personnel:</a:t>
            </a:r>
            <a:r>
              <a:rPr lang="ru-RU" sz="2800" dirty="0"/>
              <a:t> Информация о персонале с атрибутами </a:t>
            </a:r>
            <a:r>
              <a:rPr lang="en-US" sz="2800" dirty="0"/>
              <a:t>ID,</a:t>
            </a:r>
            <a:r>
              <a:rPr lang="ru-RU" sz="2800" dirty="0"/>
              <a:t> имя и должности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284268-8B66-917F-8BFE-95393FE92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63" y="3190723"/>
            <a:ext cx="4804165" cy="3314700"/>
          </a:xfrm>
          <a:prstGeom prst="round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1C1BAE-A37C-53C8-B225-49F8F7F65D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638" y="3137383"/>
            <a:ext cx="4804164" cy="336804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47789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A2316-91FC-DA3B-319D-9F8B33900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BF19C83B-3513-C8F8-1632-7A05654F5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52577"/>
            <a:ext cx="9608330" cy="443198"/>
          </a:xfrm>
        </p:spPr>
        <p:txBody>
          <a:bodyPr/>
          <a:lstStyle/>
          <a:p>
            <a:r>
              <a:rPr lang="ru-RU" sz="3200" dirty="0"/>
              <a:t>Хранение данных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1D7EE92-FE40-97DE-48AE-5B93F09586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84774" cy="5040312"/>
          </a:xfrm>
        </p:spPr>
        <p:txBody>
          <a:bodyPr/>
          <a:lstStyle/>
          <a:p>
            <a:pPr marL="285750" marR="0" lvl="5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E70F4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2800" dirty="0">
                <a:solidFill>
                  <a:srgbClr val="242834"/>
                </a:solidFill>
                <a:latin typeface="Arial" panose="020B0604020202020204"/>
              </a:rPr>
              <a:t>Данные хранятся в текстовых файлах</a:t>
            </a:r>
            <a:r>
              <a:rPr lang="en-US" sz="2800" dirty="0">
                <a:solidFill>
                  <a:srgbClr val="242834"/>
                </a:solidFill>
                <a:latin typeface="Arial" panose="020B0604020202020204"/>
              </a:rPr>
              <a:t>:</a:t>
            </a:r>
            <a:endParaRPr lang="ru-RU" sz="2800" dirty="0">
              <a:solidFill>
                <a:srgbClr val="242834"/>
              </a:solidFill>
              <a:latin typeface="Arial" panose="020B0604020202020204"/>
            </a:endParaRPr>
          </a:p>
          <a:p>
            <a:pPr marR="0" lvl="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E70F47"/>
              </a:buClr>
              <a:buSzTx/>
              <a:buFont typeface="Wingdings" pitchFamily="2" charset="2"/>
              <a:buChar char="ü"/>
              <a:tabLst/>
              <a:defRPr/>
            </a:pPr>
            <a:r>
              <a:rPr lang="en-US" sz="2800" dirty="0" err="1">
                <a:solidFill>
                  <a:srgbClr val="242834"/>
                </a:solidFill>
                <a:latin typeface="Arial" panose="020B0604020202020204"/>
              </a:rPr>
              <a:t>parking.txt</a:t>
            </a:r>
            <a:endParaRPr lang="en-US" sz="2800" dirty="0">
              <a:solidFill>
                <a:srgbClr val="242834"/>
              </a:solidFill>
              <a:latin typeface="Arial" panose="020B0604020202020204"/>
            </a:endParaRPr>
          </a:p>
          <a:p>
            <a:pPr marR="0" lvl="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E70F47"/>
              </a:buClr>
              <a:buSzTx/>
              <a:buFont typeface="Wingdings" pitchFamily="2" charset="2"/>
              <a:buChar char="ü"/>
              <a:tabLst/>
              <a:defRPr/>
            </a:pPr>
            <a:r>
              <a:rPr lang="en-US" sz="2800" dirty="0" err="1">
                <a:solidFill>
                  <a:srgbClr val="242834"/>
                </a:solidFill>
                <a:latin typeface="Arial" panose="020B0604020202020204"/>
              </a:rPr>
              <a:t>visitors.txt</a:t>
            </a:r>
            <a:endParaRPr lang="en-US" sz="2800" dirty="0">
              <a:solidFill>
                <a:srgbClr val="242834"/>
              </a:solidFill>
              <a:latin typeface="Arial" panose="020B0604020202020204"/>
            </a:endParaRPr>
          </a:p>
          <a:p>
            <a:pPr marR="0" lvl="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E70F47"/>
              </a:buClr>
              <a:buSzTx/>
              <a:buFont typeface="Wingdings" pitchFamily="2" charset="2"/>
              <a:buChar char="ü"/>
              <a:tabLst/>
              <a:defRPr/>
            </a:pPr>
            <a:r>
              <a:rPr lang="en-US" sz="2800" dirty="0" err="1">
                <a:solidFill>
                  <a:srgbClr val="242834"/>
                </a:solidFill>
                <a:latin typeface="Arial" panose="020B0604020202020204"/>
              </a:rPr>
              <a:t>ticket.txt</a:t>
            </a:r>
            <a:endParaRPr lang="en-US" sz="2800" dirty="0">
              <a:solidFill>
                <a:srgbClr val="242834"/>
              </a:solidFill>
              <a:latin typeface="Arial" panose="020B0604020202020204"/>
            </a:endParaRPr>
          </a:p>
          <a:p>
            <a:pPr marR="0" lvl="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E70F47"/>
              </a:buClr>
              <a:buSzTx/>
              <a:buFont typeface="Wingdings" pitchFamily="2" charset="2"/>
              <a:buChar char="ü"/>
              <a:tabLst/>
              <a:defRPr/>
            </a:pPr>
            <a:r>
              <a:rPr lang="en-US" sz="2800" dirty="0" err="1">
                <a:solidFill>
                  <a:srgbClr val="242834"/>
                </a:solidFill>
                <a:latin typeface="Arial" panose="020B0604020202020204"/>
              </a:rPr>
              <a:t>vehicles.txt</a:t>
            </a:r>
            <a:endParaRPr lang="en-US" sz="2800" dirty="0">
              <a:solidFill>
                <a:srgbClr val="242834"/>
              </a:solidFill>
              <a:latin typeface="Arial" panose="020B0604020202020204"/>
            </a:endParaRPr>
          </a:p>
          <a:p>
            <a:pPr marR="0" lvl="5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E70F47"/>
              </a:buClr>
              <a:buSzTx/>
              <a:buFont typeface="Wingdings" pitchFamily="2" charset="2"/>
              <a:buChar char="ü"/>
              <a:tabLst/>
              <a:defRPr/>
            </a:pPr>
            <a:r>
              <a:rPr lang="en-US" sz="2800" dirty="0" err="1">
                <a:solidFill>
                  <a:srgbClr val="242834"/>
                </a:solidFill>
                <a:latin typeface="Arial" panose="020B0604020202020204"/>
              </a:rPr>
              <a:t>personnel.txt</a:t>
            </a:r>
            <a:endParaRPr lang="en-US" sz="2800" dirty="0">
              <a:solidFill>
                <a:srgbClr val="242834"/>
              </a:solidFill>
              <a:latin typeface="Arial" panose="020B0604020202020204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8F861EC-11FC-D3FD-ACC9-8B2BEBE0C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0" y="1341438"/>
            <a:ext cx="7772400" cy="1375116"/>
          </a:xfrm>
          <a:prstGeom prst="round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FA31000-EF7F-D5B3-C082-44DF032C8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0050" y="3429000"/>
            <a:ext cx="5118100" cy="11049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227543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5796B-D510-5E89-6F8B-2446899C1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F34373E4-2AE5-4FFC-EEDF-8399AC770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52577"/>
            <a:ext cx="9608330" cy="443198"/>
          </a:xfrm>
        </p:spPr>
        <p:txBody>
          <a:bodyPr/>
          <a:lstStyle/>
          <a:p>
            <a:r>
              <a:rPr lang="ru-RU" sz="3200" dirty="0"/>
              <a:t>Обработка ошибок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34E0D0A-7D28-AB62-BE69-68528018BE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84774" cy="5040312"/>
          </a:xfrm>
        </p:spPr>
        <p:txBody>
          <a:bodyPr/>
          <a:lstStyle/>
          <a:p>
            <a:pPr marL="285750" marR="0" lvl="5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E70F4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2800" dirty="0">
                <a:solidFill>
                  <a:srgbClr val="242834"/>
                </a:solidFill>
                <a:latin typeface="Arial" panose="020B0604020202020204"/>
              </a:rPr>
              <a:t>Проверка существования записей перед выполнения операций</a:t>
            </a:r>
          </a:p>
          <a:p>
            <a:pPr marL="285750" marR="0" lvl="5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E70F4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2800" dirty="0">
                <a:solidFill>
                  <a:srgbClr val="242834"/>
                </a:solidFill>
                <a:latin typeface="Arial" panose="020B0604020202020204"/>
              </a:rPr>
              <a:t>Обработка ошибок при работе с файлами</a:t>
            </a:r>
            <a:endParaRPr lang="en-US" sz="2800" dirty="0">
              <a:solidFill>
                <a:srgbClr val="242834"/>
              </a:solidFill>
              <a:latin typeface="Arial" panose="020B0604020202020204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CAA90A8-F281-96E2-E1A9-C9294C7BD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711" y="1420177"/>
            <a:ext cx="5940425" cy="4017645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8422771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B0140-61F3-CD81-3092-6E81963D9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17940ED1-136C-1E42-8C21-B000F4734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52577"/>
            <a:ext cx="9608330" cy="443198"/>
          </a:xfrm>
        </p:spPr>
        <p:txBody>
          <a:bodyPr/>
          <a:lstStyle/>
          <a:p>
            <a:r>
              <a:rPr lang="ru-RU" sz="3200" dirty="0"/>
              <a:t>Результаты тестирования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DFFC7FD-C9D5-01A1-F905-B0457AF654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84774" cy="5040312"/>
          </a:xfrm>
        </p:spPr>
        <p:txBody>
          <a:bodyPr/>
          <a:lstStyle/>
          <a:p>
            <a:pPr marL="285750" marR="0" lvl="5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E70F4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2800" dirty="0">
                <a:solidFill>
                  <a:srgbClr val="242834"/>
                </a:solidFill>
                <a:latin typeface="Arial" panose="020B0604020202020204"/>
              </a:rPr>
              <a:t>Скриншоты интерфейса приложения</a:t>
            </a:r>
          </a:p>
          <a:p>
            <a:pPr marL="285750" marR="0" lvl="5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E70F4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ru-RU" sz="2800" dirty="0">
                <a:solidFill>
                  <a:srgbClr val="242834"/>
                </a:solidFill>
                <a:latin typeface="Arial" panose="020B0604020202020204"/>
              </a:rPr>
              <a:t>Примеры работы функций (добавления</a:t>
            </a:r>
            <a:r>
              <a:rPr lang="en-US" sz="2800" dirty="0">
                <a:solidFill>
                  <a:srgbClr val="242834"/>
                </a:solidFill>
                <a:latin typeface="Arial" panose="020B0604020202020204"/>
              </a:rPr>
              <a:t>/</a:t>
            </a:r>
            <a:r>
              <a:rPr lang="ru-RU" sz="2800" dirty="0">
                <a:solidFill>
                  <a:srgbClr val="242834"/>
                </a:solidFill>
                <a:latin typeface="Arial" panose="020B0604020202020204"/>
              </a:rPr>
              <a:t>удаление)</a:t>
            </a:r>
            <a:endParaRPr lang="en-US" sz="2800" dirty="0">
              <a:solidFill>
                <a:srgbClr val="242834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778708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F4D24-C2A8-441C-06AF-C7B181F1B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634A394-6827-5E94-8A15-95800630F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52577"/>
            <a:ext cx="9608330" cy="443198"/>
          </a:xfrm>
        </p:spPr>
        <p:txBody>
          <a:bodyPr/>
          <a:lstStyle/>
          <a:p>
            <a:r>
              <a:rPr lang="ru-RU" sz="3200" dirty="0"/>
              <a:t>Результаты тестирования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BD3E1B-AC0B-1B8B-9F22-F93E91750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3" y="1607201"/>
            <a:ext cx="5438451" cy="36435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DBC6FC-19E9-04DC-BE35-BB3858CF116A}"/>
              </a:ext>
            </a:extLst>
          </p:cNvPr>
          <p:cNvSpPr txBox="1"/>
          <p:nvPr/>
        </p:nvSpPr>
        <p:spPr>
          <a:xfrm>
            <a:off x="550862" y="5237680"/>
            <a:ext cx="54384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Рисунок 1 – Изначальные данные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08B72B5-A0F1-943A-D36F-3D0026EC8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603" y="1607201"/>
            <a:ext cx="5438452" cy="36304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CFFB3CE-374F-63A9-9316-96A72F0B43FF}"/>
              </a:ext>
            </a:extLst>
          </p:cNvPr>
          <p:cNvSpPr txBox="1"/>
          <p:nvPr/>
        </p:nvSpPr>
        <p:spPr>
          <a:xfrm>
            <a:off x="6200604" y="5250799"/>
            <a:ext cx="54384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Рисунок 2 – Пример добавления</a:t>
            </a:r>
          </a:p>
        </p:txBody>
      </p:sp>
    </p:spTree>
    <p:extLst>
      <p:ext uri="{BB962C8B-B14F-4D97-AF65-F5344CB8AC3E}">
        <p14:creationId xmlns:p14="http://schemas.microsoft.com/office/powerpoint/2010/main" val="3236895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7D1EA-7C02-AB0D-F21B-2B9290ED7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50403E6-DC93-329F-D818-911E9E2D6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52577"/>
            <a:ext cx="9608330" cy="443198"/>
          </a:xfrm>
        </p:spPr>
        <p:txBody>
          <a:bodyPr/>
          <a:lstStyle/>
          <a:p>
            <a:r>
              <a:rPr lang="ru-RU" sz="3200" dirty="0"/>
              <a:t>Результаты тестирования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A54602-140A-EC53-05F7-E5E2B9B1D621}"/>
              </a:ext>
            </a:extLst>
          </p:cNvPr>
          <p:cNvSpPr txBox="1"/>
          <p:nvPr/>
        </p:nvSpPr>
        <p:spPr>
          <a:xfrm>
            <a:off x="550862" y="5237680"/>
            <a:ext cx="54384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Рисунок 3 – Изначальные данные после добавления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E57F293-7F74-4E5E-23E0-FCE733632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61" y="1607201"/>
            <a:ext cx="5438452" cy="36304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9A6A12-101A-300F-AE73-53F1ED514DCA}"/>
              </a:ext>
            </a:extLst>
          </p:cNvPr>
          <p:cNvSpPr txBox="1"/>
          <p:nvPr/>
        </p:nvSpPr>
        <p:spPr>
          <a:xfrm>
            <a:off x="6200604" y="5250799"/>
            <a:ext cx="5438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Рисунок 4 – Пример удаления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3620B42-BFB6-A0A5-6B37-CFA66EBF8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604" y="1629622"/>
            <a:ext cx="5438451" cy="362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164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08A7C-3CA0-14D5-4193-9143BD9CB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8C9FB92-B7E5-7199-1994-A5F83B343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52577"/>
            <a:ext cx="9608330" cy="443198"/>
          </a:xfrm>
        </p:spPr>
        <p:txBody>
          <a:bodyPr/>
          <a:lstStyle/>
          <a:p>
            <a:r>
              <a:rPr lang="ru-RU" sz="3200" dirty="0"/>
              <a:t>Заключение 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154162E-BCDE-F363-F74A-3CA4FAFEA0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1341438"/>
            <a:ext cx="5184774" cy="5163985"/>
          </a:xfrm>
        </p:spPr>
        <p:txBody>
          <a:bodyPr>
            <a:noAutofit/>
          </a:bodyPr>
          <a:lstStyle/>
          <a:p>
            <a:pPr marL="457200" indent="-457200" algn="l">
              <a:buFont typeface="Wingdings" pitchFamily="2" charset="2"/>
              <a:buChar char="q"/>
            </a:pPr>
            <a:r>
              <a:rPr lang="ru-RU" sz="2800" dirty="0">
                <a:solidFill>
                  <a:srgbClr val="242834"/>
                </a:solidFill>
                <a:latin typeface="Arial" panose="020B0604020202020204"/>
              </a:rPr>
              <a:t>Итоги проекта</a:t>
            </a:r>
          </a:p>
          <a:p>
            <a:pPr marL="457200" indent="-457200" algn="l">
              <a:buFont typeface="Wingdings" pitchFamily="2" charset="2"/>
              <a:buChar char="q"/>
            </a:pPr>
            <a:r>
              <a:rPr lang="ru-RU" sz="2800" dirty="0">
                <a:solidFill>
                  <a:srgbClr val="242834"/>
                </a:solidFill>
                <a:latin typeface="Arial" panose="020B0604020202020204"/>
              </a:rPr>
              <a:t>Основные достижения: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ru-RU" sz="2800" dirty="0">
                <a:solidFill>
                  <a:srgbClr val="242834"/>
                </a:solidFill>
                <a:latin typeface="Arial" panose="020B0604020202020204"/>
              </a:rPr>
              <a:t>Реализовано управление парковками, посетителями и билетами.</a:t>
            </a:r>
          </a:p>
          <a:p>
            <a:pPr marL="285750" marR="0" lvl="5" indent="-2857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E70F4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n-US" sz="2800" dirty="0">
              <a:solidFill>
                <a:srgbClr val="242834"/>
              </a:solidFill>
              <a:latin typeface="Arial" panose="020B0604020202020204"/>
            </a:endParaRPr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A81F1183-12AF-2AC0-0651-16097AA9DCF6}"/>
              </a:ext>
            </a:extLst>
          </p:cNvPr>
          <p:cNvSpPr txBox="1">
            <a:spLocks/>
          </p:cNvSpPr>
          <p:nvPr/>
        </p:nvSpPr>
        <p:spPr>
          <a:xfrm>
            <a:off x="5735638" y="1341438"/>
            <a:ext cx="5184774" cy="5163985"/>
          </a:xfrm>
          <a:prstGeom prst="rect">
            <a:avLst/>
          </a:prstGeom>
        </p:spPr>
        <p:txBody>
          <a:bodyPr vert="horz" lIns="0" tIns="0" rIns="0" bIns="0" numCol="1" spcCol="720000" rtlCol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Wingdings" pitchFamily="2" charset="2"/>
              <a:buChar char="Ø"/>
            </a:pPr>
            <a:r>
              <a:rPr lang="ru-RU" sz="2800" dirty="0">
                <a:solidFill>
                  <a:srgbClr val="242834"/>
                </a:solidFill>
                <a:latin typeface="Arial" panose="020B0604020202020204"/>
              </a:rPr>
              <a:t>Интуитивно понятный интерфейс для пользователей.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ru-RU" sz="2800" dirty="0">
                <a:solidFill>
                  <a:srgbClr val="242834"/>
                </a:solidFill>
                <a:latin typeface="Arial" panose="020B0604020202020204"/>
              </a:rPr>
              <a:t>Эффективная обработка данных с использованием файловой системы.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ru-RU" sz="2800" dirty="0">
                <a:solidFill>
                  <a:srgbClr val="242834"/>
                </a:solidFill>
                <a:latin typeface="Arial" panose="020B0604020202020204"/>
              </a:rPr>
              <a:t>Обработка ошибок для повышения надежности приложения.</a:t>
            </a:r>
          </a:p>
        </p:txBody>
      </p:sp>
    </p:spTree>
    <p:extLst>
      <p:ext uri="{BB962C8B-B14F-4D97-AF65-F5344CB8AC3E}">
        <p14:creationId xmlns:p14="http://schemas.microsoft.com/office/powerpoint/2010/main" val="3792848622"/>
      </p:ext>
    </p:extLst>
  </p:cSld>
  <p:clrMapOvr>
    <a:masterClrMapping/>
  </p:clrMapOvr>
</p:sld>
</file>

<file path=ppt/theme/theme1.xml><?xml version="1.0" encoding="utf-8"?>
<a:theme xmlns:a="http://schemas.openxmlformats.org/drawingml/2006/main" name="Титульная страница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75426110-BF82-4921-B51E-81780A536C48}"/>
    </a:ext>
  </a:extLst>
</a:theme>
</file>

<file path=ppt/theme/theme2.xml><?xml version="1.0" encoding="utf-8"?>
<a:theme xmlns:a="http://schemas.openxmlformats.org/drawingml/2006/main" name="Текстов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8C20C85A-CFD0-4C40-80A0-6689F915CE1B}"/>
    </a:ext>
  </a:extLst>
</a:theme>
</file>

<file path=ppt/theme/theme3.xml><?xml version="1.0" encoding="utf-8"?>
<a:theme xmlns:a="http://schemas.openxmlformats.org/drawingml/2006/main" name="Дополнительн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AFBC0B84-8B15-49D7-9C5E-B813409B8E8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ГУАП презентация курса - шаблон</Template>
  <TotalTime>114</TotalTime>
  <Words>260</Words>
  <Application>Microsoft Macintosh PowerPoint</Application>
  <PresentationFormat>Широкоэкранный</PresentationFormat>
  <Paragraphs>72</Paragraphs>
  <Slides>14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Wingdings</vt:lpstr>
      <vt:lpstr>Arial</vt:lpstr>
      <vt:lpstr>Calibri</vt:lpstr>
      <vt:lpstr>Титульная страница</vt:lpstr>
      <vt:lpstr>Текстовые блоки</vt:lpstr>
      <vt:lpstr>Дополнительные блоки</vt:lpstr>
      <vt:lpstr>Приложение для управления парковками</vt:lpstr>
      <vt:lpstr>Цель проекта: создать удобное приложение</vt:lpstr>
      <vt:lpstr>Архитектура приложения</vt:lpstr>
      <vt:lpstr>MainWindow</vt:lpstr>
      <vt:lpstr>ParkingFactory</vt:lpstr>
      <vt:lpstr>Visitors</vt:lpstr>
      <vt:lpstr>TicketManager</vt:lpstr>
      <vt:lpstr>Vehicle и Personnel</vt:lpstr>
      <vt:lpstr>Хранение данных</vt:lpstr>
      <vt:lpstr>Обработка ошибок</vt:lpstr>
      <vt:lpstr>Результаты тестирования</vt:lpstr>
      <vt:lpstr>Результаты тестирования</vt:lpstr>
      <vt:lpstr>Результаты тестирования</vt:lpstr>
      <vt:lpstr>Заключение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Фирменный стиль  презентаций</dc:title>
  <dc:subject/>
  <dc:creator>Алексей Малышев</dc:creator>
  <cp:keywords/>
  <dc:description/>
  <cp:lastModifiedBy>Андрей Панченко</cp:lastModifiedBy>
  <cp:revision>28</cp:revision>
  <dcterms:created xsi:type="dcterms:W3CDTF">2023-06-16T08:15:39Z</dcterms:created>
  <dcterms:modified xsi:type="dcterms:W3CDTF">2024-11-07T11:27:00Z</dcterms:modified>
  <cp:category/>
</cp:coreProperties>
</file>